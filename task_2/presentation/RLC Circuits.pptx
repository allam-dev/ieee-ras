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ixellet TH" charset="1" panose="02000503000000000000"/>
      <p:regular r:id="rId19"/>
    </p:embeddedFont>
    <p:embeddedFont>
      <p:font typeface="Anantason" charset="1" panose="00000000000000000000"/>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4094091" y="0"/>
            <a:ext cx="14193909" cy="10287000"/>
          </a:xfrm>
          <a:custGeom>
            <a:avLst/>
            <a:gdLst/>
            <a:ahLst/>
            <a:cxnLst/>
            <a:rect r="r" b="b" t="t" l="l"/>
            <a:pathLst>
              <a:path h="10287000" w="14193909">
                <a:moveTo>
                  <a:pt x="0" y="0"/>
                </a:moveTo>
                <a:lnTo>
                  <a:pt x="14193909" y="0"/>
                </a:lnTo>
                <a:lnTo>
                  <a:pt x="14193909"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0" y="-609600"/>
            <a:ext cx="3965238" cy="10854897"/>
          </a:xfrm>
          <a:prstGeom prst="rect">
            <a:avLst/>
          </a:prstGeom>
        </p:spPr>
        <p:txBody>
          <a:bodyPr anchor="t" rtlCol="false" tIns="0" lIns="0" bIns="0" rIns="0">
            <a:spAutoFit/>
          </a:bodyPr>
          <a:lstStyle/>
          <a:p>
            <a:pPr algn="ctr">
              <a:lnSpc>
                <a:spcPts val="27668"/>
              </a:lnSpc>
            </a:pPr>
            <a:r>
              <a:rPr lang="en-US" sz="21283" spc="-319">
                <a:solidFill>
                  <a:srgbClr val="292627"/>
                </a:solidFill>
                <a:latin typeface="Pixellet TH"/>
                <a:ea typeface="Pixellet TH"/>
                <a:cs typeface="Pixellet TH"/>
                <a:sym typeface="Pixellet TH"/>
              </a:rPr>
              <a:t>R</a:t>
            </a:r>
          </a:p>
          <a:p>
            <a:pPr algn="ctr">
              <a:lnSpc>
                <a:spcPts val="27668"/>
              </a:lnSpc>
            </a:pPr>
            <a:r>
              <a:rPr lang="en-US" sz="21283" spc="-319">
                <a:solidFill>
                  <a:srgbClr val="F68059"/>
                </a:solidFill>
                <a:latin typeface="Pixellet TH"/>
                <a:ea typeface="Pixellet TH"/>
                <a:cs typeface="Pixellet TH"/>
                <a:sym typeface="Pixellet TH"/>
              </a:rPr>
              <a:t>L</a:t>
            </a:r>
          </a:p>
          <a:p>
            <a:pPr algn="ctr">
              <a:lnSpc>
                <a:spcPts val="27668"/>
              </a:lnSpc>
              <a:spcBef>
                <a:spcPct val="0"/>
              </a:spcBef>
            </a:pPr>
            <a:r>
              <a:rPr lang="en-US" sz="21283" spc="-319">
                <a:solidFill>
                  <a:srgbClr val="5170FF"/>
                </a:solidFill>
                <a:latin typeface="Pixellet TH"/>
                <a:ea typeface="Pixellet TH"/>
                <a:cs typeface="Pixellet TH"/>
                <a:sym typeface="Pixellet TH"/>
              </a:rPr>
              <a:t>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323385" y="2639351"/>
            <a:ext cx="6892153" cy="5008298"/>
          </a:xfrm>
          <a:custGeom>
            <a:avLst/>
            <a:gdLst/>
            <a:ahLst/>
            <a:cxnLst/>
            <a:rect r="r" b="b" t="t" l="l"/>
            <a:pathLst>
              <a:path h="5008298" w="6892153">
                <a:moveTo>
                  <a:pt x="0" y="0"/>
                </a:moveTo>
                <a:lnTo>
                  <a:pt x="6892154" y="0"/>
                </a:lnTo>
                <a:lnTo>
                  <a:pt x="6892154" y="5008298"/>
                </a:lnTo>
                <a:lnTo>
                  <a:pt x="0" y="5008298"/>
                </a:lnTo>
                <a:lnTo>
                  <a:pt x="0" y="0"/>
                </a:lnTo>
                <a:close/>
              </a:path>
            </a:pathLst>
          </a:custGeom>
          <a:blipFill>
            <a:blip r:embed="rId2"/>
            <a:stretch>
              <a:fillRect l="0" t="0" r="0" b="0"/>
            </a:stretch>
          </a:blipFill>
        </p:spPr>
      </p:sp>
      <p:sp>
        <p:nvSpPr>
          <p:cNvPr name="Freeform 3" id="3"/>
          <p:cNvSpPr/>
          <p:nvPr/>
        </p:nvSpPr>
        <p:spPr>
          <a:xfrm flipH="false" flipV="false" rot="0">
            <a:off x="14124948" y="353236"/>
            <a:ext cx="3602476" cy="1350928"/>
          </a:xfrm>
          <a:custGeom>
            <a:avLst/>
            <a:gdLst/>
            <a:ahLst/>
            <a:cxnLst/>
            <a:rect r="r" b="b" t="t" l="l"/>
            <a:pathLst>
              <a:path h="1350928" w="3602476">
                <a:moveTo>
                  <a:pt x="0" y="0"/>
                </a:moveTo>
                <a:lnTo>
                  <a:pt x="3602475" y="0"/>
                </a:lnTo>
                <a:lnTo>
                  <a:pt x="3602475" y="1350928"/>
                </a:lnTo>
                <a:lnTo>
                  <a:pt x="0" y="1350928"/>
                </a:lnTo>
                <a:lnTo>
                  <a:pt x="0" y="0"/>
                </a:lnTo>
                <a:close/>
              </a:path>
            </a:pathLst>
          </a:custGeom>
          <a:blipFill>
            <a:blip r:embed="rId3"/>
            <a:stretch>
              <a:fillRect l="0" t="0" r="0" b="0"/>
            </a:stretch>
          </a:blipFill>
        </p:spPr>
      </p:sp>
      <p:sp>
        <p:nvSpPr>
          <p:cNvPr name="Freeform 4" id="4"/>
          <p:cNvSpPr/>
          <p:nvPr/>
        </p:nvSpPr>
        <p:spPr>
          <a:xfrm flipH="false" flipV="false" rot="0">
            <a:off x="7342762" y="3102246"/>
            <a:ext cx="10384661" cy="5143500"/>
          </a:xfrm>
          <a:custGeom>
            <a:avLst/>
            <a:gdLst/>
            <a:ahLst/>
            <a:cxnLst/>
            <a:rect r="r" b="b" t="t" l="l"/>
            <a:pathLst>
              <a:path h="5143500" w="10384661">
                <a:moveTo>
                  <a:pt x="0" y="0"/>
                </a:moveTo>
                <a:lnTo>
                  <a:pt x="10384661" y="0"/>
                </a:lnTo>
                <a:lnTo>
                  <a:pt x="10384661" y="5143500"/>
                </a:lnTo>
                <a:lnTo>
                  <a:pt x="0" y="5143500"/>
                </a:lnTo>
                <a:lnTo>
                  <a:pt x="0" y="0"/>
                </a:lnTo>
                <a:close/>
              </a:path>
            </a:pathLst>
          </a:custGeom>
          <a:blipFill>
            <a:blip r:embed="rId4"/>
            <a:stretch>
              <a:fillRect l="0" t="0" r="0" b="0"/>
            </a:stretch>
          </a:blipFill>
        </p:spPr>
      </p:sp>
      <p:sp>
        <p:nvSpPr>
          <p:cNvPr name="TextBox 5" id="5"/>
          <p:cNvSpPr txBox="true"/>
          <p:nvPr/>
        </p:nvSpPr>
        <p:spPr>
          <a:xfrm rot="0">
            <a:off x="240933" y="-221728"/>
            <a:ext cx="6159458" cy="1520824"/>
          </a:xfrm>
          <a:prstGeom prst="rect">
            <a:avLst/>
          </a:prstGeom>
        </p:spPr>
        <p:txBody>
          <a:bodyPr anchor="t" rtlCol="false" tIns="0" lIns="0" bIns="0" rIns="0">
            <a:spAutoFit/>
          </a:bodyPr>
          <a:lstStyle/>
          <a:p>
            <a:pPr algn="ctr">
              <a:lnSpc>
                <a:spcPts val="11200"/>
              </a:lnSpc>
              <a:spcBef>
                <a:spcPct val="0"/>
              </a:spcBef>
            </a:pPr>
            <a:r>
              <a:rPr lang="en-US" sz="8000" u="sng">
                <a:solidFill>
                  <a:srgbClr val="292627"/>
                </a:solidFill>
                <a:latin typeface="Pixellet TH"/>
                <a:ea typeface="Pixellet TH"/>
                <a:cs typeface="Pixellet TH"/>
                <a:sym typeface="Pixellet TH"/>
              </a:rPr>
              <a:t>resistors</a:t>
            </a:r>
          </a:p>
        </p:txBody>
      </p:sp>
      <p:sp>
        <p:nvSpPr>
          <p:cNvPr name="TextBox 6" id="6"/>
          <p:cNvSpPr txBox="true"/>
          <p:nvPr/>
        </p:nvSpPr>
        <p:spPr>
          <a:xfrm rot="0">
            <a:off x="817373" y="8083821"/>
            <a:ext cx="2503289" cy="1377949"/>
          </a:xfrm>
          <a:prstGeom prst="rect">
            <a:avLst/>
          </a:prstGeom>
        </p:spPr>
        <p:txBody>
          <a:bodyPr anchor="t" rtlCol="false" tIns="0" lIns="0" bIns="0" rIns="0">
            <a:spAutoFit/>
          </a:bodyPr>
          <a:lstStyle/>
          <a:p>
            <a:pPr algn="ctr">
              <a:lnSpc>
                <a:spcPts val="11200"/>
              </a:lnSpc>
              <a:spcBef>
                <a:spcPct val="0"/>
              </a:spcBef>
            </a:pPr>
            <a:r>
              <a:rPr lang="en-US" sz="8000">
                <a:solidFill>
                  <a:srgbClr val="292627"/>
                </a:solidFill>
                <a:latin typeface="Anantason"/>
                <a:ea typeface="Anantason"/>
                <a:cs typeface="Anantason"/>
                <a:sym typeface="Anantason"/>
              </a:rPr>
              <a:t>V = IR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225669" y="259968"/>
            <a:ext cx="7133657" cy="6866145"/>
          </a:xfrm>
          <a:custGeom>
            <a:avLst/>
            <a:gdLst/>
            <a:ahLst/>
            <a:cxnLst/>
            <a:rect r="r" b="b" t="t" l="l"/>
            <a:pathLst>
              <a:path h="6866145" w="7133657">
                <a:moveTo>
                  <a:pt x="0" y="0"/>
                </a:moveTo>
                <a:lnTo>
                  <a:pt x="7133657" y="0"/>
                </a:lnTo>
                <a:lnTo>
                  <a:pt x="7133657" y="6866145"/>
                </a:lnTo>
                <a:lnTo>
                  <a:pt x="0" y="6866145"/>
                </a:lnTo>
                <a:lnTo>
                  <a:pt x="0" y="0"/>
                </a:lnTo>
                <a:close/>
              </a:path>
            </a:pathLst>
          </a:custGeom>
          <a:blipFill>
            <a:blip r:embed="rId2"/>
            <a:stretch>
              <a:fillRect l="0" t="0" r="0" b="0"/>
            </a:stretch>
          </a:blipFill>
        </p:spPr>
      </p:sp>
      <p:sp>
        <p:nvSpPr>
          <p:cNvPr name="Freeform 3" id="3"/>
          <p:cNvSpPr/>
          <p:nvPr/>
        </p:nvSpPr>
        <p:spPr>
          <a:xfrm flipH="false" flipV="false" rot="0">
            <a:off x="7694769" y="259968"/>
            <a:ext cx="5750608" cy="5750608"/>
          </a:xfrm>
          <a:custGeom>
            <a:avLst/>
            <a:gdLst/>
            <a:ahLst/>
            <a:cxnLst/>
            <a:rect r="r" b="b" t="t" l="l"/>
            <a:pathLst>
              <a:path h="5750608" w="5750608">
                <a:moveTo>
                  <a:pt x="0" y="0"/>
                </a:moveTo>
                <a:lnTo>
                  <a:pt x="5750608" y="0"/>
                </a:lnTo>
                <a:lnTo>
                  <a:pt x="5750608" y="5750608"/>
                </a:lnTo>
                <a:lnTo>
                  <a:pt x="0" y="5750608"/>
                </a:lnTo>
                <a:lnTo>
                  <a:pt x="0" y="0"/>
                </a:lnTo>
                <a:close/>
              </a:path>
            </a:pathLst>
          </a:custGeom>
          <a:blipFill>
            <a:blip r:embed="rId3"/>
            <a:stretch>
              <a:fillRect l="0" t="0" r="0" b="0"/>
            </a:stretch>
          </a:blipFill>
        </p:spPr>
      </p:sp>
      <p:sp>
        <p:nvSpPr>
          <p:cNvPr name="Freeform 4" id="4"/>
          <p:cNvSpPr/>
          <p:nvPr/>
        </p:nvSpPr>
        <p:spPr>
          <a:xfrm flipH="false" flipV="false" rot="0">
            <a:off x="7694769" y="6464137"/>
            <a:ext cx="7649879" cy="3404196"/>
          </a:xfrm>
          <a:custGeom>
            <a:avLst/>
            <a:gdLst/>
            <a:ahLst/>
            <a:cxnLst/>
            <a:rect r="r" b="b" t="t" l="l"/>
            <a:pathLst>
              <a:path h="3404196" w="7649879">
                <a:moveTo>
                  <a:pt x="0" y="0"/>
                </a:moveTo>
                <a:lnTo>
                  <a:pt x="7649879" y="0"/>
                </a:lnTo>
                <a:lnTo>
                  <a:pt x="7649879" y="3404196"/>
                </a:lnTo>
                <a:lnTo>
                  <a:pt x="0" y="3404196"/>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2079197" y="1965021"/>
            <a:ext cx="5323952" cy="6356958"/>
          </a:xfrm>
          <a:custGeom>
            <a:avLst/>
            <a:gdLst/>
            <a:ahLst/>
            <a:cxnLst/>
            <a:rect r="r" b="b" t="t" l="l"/>
            <a:pathLst>
              <a:path h="6356958" w="5323952">
                <a:moveTo>
                  <a:pt x="0" y="0"/>
                </a:moveTo>
                <a:lnTo>
                  <a:pt x="5323952" y="0"/>
                </a:lnTo>
                <a:lnTo>
                  <a:pt x="5323952" y="6356958"/>
                </a:lnTo>
                <a:lnTo>
                  <a:pt x="0" y="6356958"/>
                </a:lnTo>
                <a:lnTo>
                  <a:pt x="0" y="0"/>
                </a:lnTo>
                <a:close/>
              </a:path>
            </a:pathLst>
          </a:custGeom>
          <a:blipFill>
            <a:blip r:embed="rId2"/>
            <a:stretch>
              <a:fillRect l="0" t="0" r="0" b="0"/>
            </a:stretch>
          </a:blipFill>
        </p:spPr>
      </p:sp>
      <p:sp>
        <p:nvSpPr>
          <p:cNvPr name="TextBox 3" id="3"/>
          <p:cNvSpPr txBox="true"/>
          <p:nvPr/>
        </p:nvSpPr>
        <p:spPr>
          <a:xfrm rot="0">
            <a:off x="10554395" y="2407521"/>
            <a:ext cx="3492698" cy="1377949"/>
          </a:xfrm>
          <a:prstGeom prst="rect">
            <a:avLst/>
          </a:prstGeom>
        </p:spPr>
        <p:txBody>
          <a:bodyPr anchor="t" rtlCol="false" tIns="0" lIns="0" bIns="0" rIns="0">
            <a:spAutoFit/>
          </a:bodyPr>
          <a:lstStyle/>
          <a:p>
            <a:pPr algn="ctr">
              <a:lnSpc>
                <a:spcPts val="11200"/>
              </a:lnSpc>
              <a:spcBef>
                <a:spcPct val="0"/>
              </a:spcBef>
            </a:pPr>
            <a:r>
              <a:rPr lang="en-US" sz="8000">
                <a:solidFill>
                  <a:srgbClr val="000000"/>
                </a:solidFill>
                <a:latin typeface="Anantason"/>
                <a:ea typeface="Anantason"/>
                <a:cs typeface="Anantason"/>
                <a:sym typeface="Anantason"/>
              </a:rPr>
              <a:t>with DC</a:t>
            </a:r>
          </a:p>
        </p:txBody>
      </p:sp>
      <p:sp>
        <p:nvSpPr>
          <p:cNvPr name="TextBox 4" id="4"/>
          <p:cNvSpPr txBox="true"/>
          <p:nvPr/>
        </p:nvSpPr>
        <p:spPr>
          <a:xfrm rot="0">
            <a:off x="10589965" y="6090489"/>
            <a:ext cx="3421559" cy="1377949"/>
          </a:xfrm>
          <a:prstGeom prst="rect">
            <a:avLst/>
          </a:prstGeom>
        </p:spPr>
        <p:txBody>
          <a:bodyPr anchor="t" rtlCol="false" tIns="0" lIns="0" bIns="0" rIns="0">
            <a:spAutoFit/>
          </a:bodyPr>
          <a:lstStyle/>
          <a:p>
            <a:pPr algn="ctr">
              <a:lnSpc>
                <a:spcPts val="11200"/>
              </a:lnSpc>
              <a:spcBef>
                <a:spcPct val="0"/>
              </a:spcBef>
            </a:pPr>
            <a:r>
              <a:rPr lang="en-US" sz="8000">
                <a:solidFill>
                  <a:srgbClr val="000000"/>
                </a:solidFill>
                <a:latin typeface="Anantason"/>
                <a:ea typeface="Anantason"/>
                <a:cs typeface="Anantason"/>
                <a:sym typeface="Anantason"/>
              </a:rPr>
              <a:t>with AC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538610" y="420688"/>
            <a:ext cx="1216024" cy="1216024"/>
          </a:xfrm>
          <a:custGeom>
            <a:avLst/>
            <a:gdLst/>
            <a:ahLst/>
            <a:cxnLst/>
            <a:rect r="r" b="b" t="t" l="l"/>
            <a:pathLst>
              <a:path h="1216024" w="1216024">
                <a:moveTo>
                  <a:pt x="0" y="0"/>
                </a:moveTo>
                <a:lnTo>
                  <a:pt x="1216025" y="0"/>
                </a:lnTo>
                <a:lnTo>
                  <a:pt x="1216025" y="1216024"/>
                </a:lnTo>
                <a:lnTo>
                  <a:pt x="0" y="1216024"/>
                </a:lnTo>
                <a:lnTo>
                  <a:pt x="0" y="0"/>
                </a:lnTo>
                <a:close/>
              </a:path>
            </a:pathLst>
          </a:custGeom>
          <a:blipFill>
            <a:blip r:embed="rId2"/>
            <a:stretch>
              <a:fillRect l="0" t="0" r="0" b="0"/>
            </a:stretch>
          </a:blipFill>
        </p:spPr>
      </p:sp>
      <p:sp>
        <p:nvSpPr>
          <p:cNvPr name="Freeform 3" id="3"/>
          <p:cNvSpPr/>
          <p:nvPr/>
        </p:nvSpPr>
        <p:spPr>
          <a:xfrm flipH="false" flipV="false" rot="0">
            <a:off x="448300" y="2442369"/>
            <a:ext cx="7625996" cy="2371268"/>
          </a:xfrm>
          <a:custGeom>
            <a:avLst/>
            <a:gdLst/>
            <a:ahLst/>
            <a:cxnLst/>
            <a:rect r="r" b="b" t="t" l="l"/>
            <a:pathLst>
              <a:path h="2371268" w="7625996">
                <a:moveTo>
                  <a:pt x="0" y="0"/>
                </a:moveTo>
                <a:lnTo>
                  <a:pt x="7625997" y="0"/>
                </a:lnTo>
                <a:lnTo>
                  <a:pt x="7625997" y="2371267"/>
                </a:lnTo>
                <a:lnTo>
                  <a:pt x="0" y="2371267"/>
                </a:lnTo>
                <a:lnTo>
                  <a:pt x="0" y="0"/>
                </a:lnTo>
                <a:close/>
              </a:path>
            </a:pathLst>
          </a:custGeom>
          <a:blipFill>
            <a:blip r:embed="rId3"/>
            <a:stretch>
              <a:fillRect l="0" t="0" r="0" b="0"/>
            </a:stretch>
          </a:blipFill>
        </p:spPr>
      </p:sp>
      <p:sp>
        <p:nvSpPr>
          <p:cNvPr name="Freeform 4" id="4"/>
          <p:cNvSpPr/>
          <p:nvPr/>
        </p:nvSpPr>
        <p:spPr>
          <a:xfrm flipH="false" flipV="false" rot="0">
            <a:off x="448300" y="6209750"/>
            <a:ext cx="4175745" cy="3048550"/>
          </a:xfrm>
          <a:custGeom>
            <a:avLst/>
            <a:gdLst/>
            <a:ahLst/>
            <a:cxnLst/>
            <a:rect r="r" b="b" t="t" l="l"/>
            <a:pathLst>
              <a:path h="3048550" w="4175745">
                <a:moveTo>
                  <a:pt x="0" y="0"/>
                </a:moveTo>
                <a:lnTo>
                  <a:pt x="4175746" y="0"/>
                </a:lnTo>
                <a:lnTo>
                  <a:pt x="4175746" y="3048550"/>
                </a:lnTo>
                <a:lnTo>
                  <a:pt x="0" y="3048550"/>
                </a:lnTo>
                <a:lnTo>
                  <a:pt x="0" y="0"/>
                </a:lnTo>
                <a:close/>
              </a:path>
            </a:pathLst>
          </a:custGeom>
          <a:blipFill>
            <a:blip r:embed="rId4"/>
            <a:stretch>
              <a:fillRect l="0" t="0" r="0" b="0"/>
            </a:stretch>
          </a:blipFill>
        </p:spPr>
      </p:sp>
      <p:sp>
        <p:nvSpPr>
          <p:cNvPr name="Freeform 5" id="5"/>
          <p:cNvSpPr/>
          <p:nvPr/>
        </p:nvSpPr>
        <p:spPr>
          <a:xfrm flipH="false" flipV="false" rot="0">
            <a:off x="8379674" y="2442369"/>
            <a:ext cx="9617141" cy="6010713"/>
          </a:xfrm>
          <a:custGeom>
            <a:avLst/>
            <a:gdLst/>
            <a:ahLst/>
            <a:cxnLst/>
            <a:rect r="r" b="b" t="t" l="l"/>
            <a:pathLst>
              <a:path h="6010713" w="9617141">
                <a:moveTo>
                  <a:pt x="0" y="0"/>
                </a:moveTo>
                <a:lnTo>
                  <a:pt x="9617140" y="0"/>
                </a:lnTo>
                <a:lnTo>
                  <a:pt x="9617140" y="6010712"/>
                </a:lnTo>
                <a:lnTo>
                  <a:pt x="0" y="6010712"/>
                </a:lnTo>
                <a:lnTo>
                  <a:pt x="0" y="0"/>
                </a:lnTo>
                <a:close/>
              </a:path>
            </a:pathLst>
          </a:custGeom>
          <a:blipFill>
            <a:blip r:embed="rId5"/>
            <a:stretch>
              <a:fillRect l="0" t="0" r="0" b="0"/>
            </a:stretch>
          </a:blipFill>
        </p:spPr>
      </p:sp>
      <p:sp>
        <p:nvSpPr>
          <p:cNvPr name="TextBox 6" id="6"/>
          <p:cNvSpPr txBox="true"/>
          <p:nvPr/>
        </p:nvSpPr>
        <p:spPr>
          <a:xfrm rot="0">
            <a:off x="172826" y="-116758"/>
            <a:ext cx="6810673" cy="1520824"/>
          </a:xfrm>
          <a:prstGeom prst="rect">
            <a:avLst/>
          </a:prstGeom>
        </p:spPr>
        <p:txBody>
          <a:bodyPr anchor="t" rtlCol="false" tIns="0" lIns="0" bIns="0" rIns="0">
            <a:spAutoFit/>
          </a:bodyPr>
          <a:lstStyle/>
          <a:p>
            <a:pPr algn="ctr">
              <a:lnSpc>
                <a:spcPts val="11200"/>
              </a:lnSpc>
              <a:spcBef>
                <a:spcPct val="0"/>
              </a:spcBef>
            </a:pPr>
            <a:r>
              <a:rPr lang="en-US" sz="8000" u="sng">
                <a:solidFill>
                  <a:srgbClr val="000000"/>
                </a:solidFill>
                <a:latin typeface="Pixellet TH"/>
                <a:ea typeface="Pixellet TH"/>
                <a:cs typeface="Pixellet TH"/>
                <a:sym typeface="Pixellet TH"/>
              </a:rPr>
              <a:t>ca</a:t>
            </a:r>
            <a:r>
              <a:rPr lang="en-US" sz="8000" u="sng">
                <a:solidFill>
                  <a:srgbClr val="000000"/>
                </a:solidFill>
                <a:latin typeface="Pixellet TH"/>
                <a:ea typeface="Pixellet TH"/>
                <a:cs typeface="Pixellet TH"/>
                <a:sym typeface="Pixellet TH"/>
              </a:rPr>
              <a:t>pacitors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2581321" y="0"/>
            <a:ext cx="13125359" cy="10287000"/>
          </a:xfrm>
          <a:custGeom>
            <a:avLst/>
            <a:gdLst/>
            <a:ahLst/>
            <a:cxnLst/>
            <a:rect r="r" b="b" t="t" l="l"/>
            <a:pathLst>
              <a:path h="10287000" w="13125359">
                <a:moveTo>
                  <a:pt x="0" y="0"/>
                </a:moveTo>
                <a:lnTo>
                  <a:pt x="13125358" y="0"/>
                </a:lnTo>
                <a:lnTo>
                  <a:pt x="13125358" y="10287000"/>
                </a:lnTo>
                <a:lnTo>
                  <a:pt x="0" y="1028700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419699" y="641030"/>
            <a:ext cx="7417778" cy="3013472"/>
          </a:xfrm>
          <a:custGeom>
            <a:avLst/>
            <a:gdLst/>
            <a:ahLst/>
            <a:cxnLst/>
            <a:rect r="r" b="b" t="t" l="l"/>
            <a:pathLst>
              <a:path h="3013472" w="7417778">
                <a:moveTo>
                  <a:pt x="0" y="0"/>
                </a:moveTo>
                <a:lnTo>
                  <a:pt x="7417778" y="0"/>
                </a:lnTo>
                <a:lnTo>
                  <a:pt x="7417778" y="3013472"/>
                </a:lnTo>
                <a:lnTo>
                  <a:pt x="0" y="3013472"/>
                </a:lnTo>
                <a:lnTo>
                  <a:pt x="0" y="0"/>
                </a:lnTo>
                <a:close/>
              </a:path>
            </a:pathLst>
          </a:custGeom>
          <a:blipFill>
            <a:blip r:embed="rId2"/>
            <a:stretch>
              <a:fillRect l="0" t="0" r="0" b="0"/>
            </a:stretch>
          </a:blipFill>
        </p:spPr>
      </p:sp>
      <p:sp>
        <p:nvSpPr>
          <p:cNvPr name="Freeform 3" id="3"/>
          <p:cNvSpPr/>
          <p:nvPr/>
        </p:nvSpPr>
        <p:spPr>
          <a:xfrm flipH="false" flipV="false" rot="0">
            <a:off x="419699" y="6161378"/>
            <a:ext cx="7417778" cy="3096922"/>
          </a:xfrm>
          <a:custGeom>
            <a:avLst/>
            <a:gdLst/>
            <a:ahLst/>
            <a:cxnLst/>
            <a:rect r="r" b="b" t="t" l="l"/>
            <a:pathLst>
              <a:path h="3096922" w="7417778">
                <a:moveTo>
                  <a:pt x="0" y="0"/>
                </a:moveTo>
                <a:lnTo>
                  <a:pt x="7417778" y="0"/>
                </a:lnTo>
                <a:lnTo>
                  <a:pt x="7417778" y="3096922"/>
                </a:lnTo>
                <a:lnTo>
                  <a:pt x="0" y="3096922"/>
                </a:lnTo>
                <a:lnTo>
                  <a:pt x="0" y="0"/>
                </a:lnTo>
                <a:close/>
              </a:path>
            </a:pathLst>
          </a:custGeom>
          <a:blipFill>
            <a:blip r:embed="rId3"/>
            <a:stretch>
              <a:fillRect l="0" t="0" r="0" b="0"/>
            </a:stretch>
          </a:blipFill>
        </p:spPr>
      </p:sp>
      <p:sp>
        <p:nvSpPr>
          <p:cNvPr name="Freeform 4" id="4"/>
          <p:cNvSpPr/>
          <p:nvPr/>
        </p:nvSpPr>
        <p:spPr>
          <a:xfrm flipH="false" flipV="false" rot="0">
            <a:off x="16063279" y="9117227"/>
            <a:ext cx="2224721" cy="1169773"/>
          </a:xfrm>
          <a:custGeom>
            <a:avLst/>
            <a:gdLst/>
            <a:ahLst/>
            <a:cxnLst/>
            <a:rect r="r" b="b" t="t" l="l"/>
            <a:pathLst>
              <a:path h="1169773" w="2224721">
                <a:moveTo>
                  <a:pt x="0" y="0"/>
                </a:moveTo>
                <a:lnTo>
                  <a:pt x="2224721" y="0"/>
                </a:lnTo>
                <a:lnTo>
                  <a:pt x="2224721" y="1169773"/>
                </a:lnTo>
                <a:lnTo>
                  <a:pt x="0" y="1169773"/>
                </a:lnTo>
                <a:lnTo>
                  <a:pt x="0" y="0"/>
                </a:lnTo>
                <a:close/>
              </a:path>
            </a:pathLst>
          </a:custGeom>
          <a:blipFill>
            <a:blip r:embed="rId4"/>
            <a:stretch>
              <a:fillRect l="0" t="0" r="0" b="0"/>
            </a:stretch>
          </a:blipFill>
        </p:spPr>
      </p:sp>
      <p:sp>
        <p:nvSpPr>
          <p:cNvPr name="TextBox 5" id="5"/>
          <p:cNvSpPr txBox="true"/>
          <p:nvPr/>
        </p:nvSpPr>
        <p:spPr>
          <a:xfrm rot="0">
            <a:off x="8182612" y="1224158"/>
            <a:ext cx="9911553" cy="17805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In a DC circuit, after the capacitor is fully charged, it acts as an open circuit, and current doesn't flow in the circuit</a:t>
            </a:r>
          </a:p>
        </p:txBody>
      </p:sp>
      <p:sp>
        <p:nvSpPr>
          <p:cNvPr name="TextBox 6" id="6"/>
          <p:cNvSpPr txBox="true"/>
          <p:nvPr/>
        </p:nvSpPr>
        <p:spPr>
          <a:xfrm rot="0">
            <a:off x="8182612" y="6786231"/>
            <a:ext cx="9911553" cy="17805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In AC circuits, a capacitor allows current to flow by continuously charging and discharging, causing current to lead voltage by 90°.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16561298" y="510688"/>
            <a:ext cx="1396004" cy="1396004"/>
          </a:xfrm>
          <a:custGeom>
            <a:avLst/>
            <a:gdLst/>
            <a:ahLst/>
            <a:cxnLst/>
            <a:rect r="r" b="b" t="t" l="l"/>
            <a:pathLst>
              <a:path h="1396004" w="1396004">
                <a:moveTo>
                  <a:pt x="0" y="0"/>
                </a:moveTo>
                <a:lnTo>
                  <a:pt x="1396004" y="0"/>
                </a:lnTo>
                <a:lnTo>
                  <a:pt x="1396004" y="1396004"/>
                </a:lnTo>
                <a:lnTo>
                  <a:pt x="0" y="1396004"/>
                </a:lnTo>
                <a:lnTo>
                  <a:pt x="0" y="0"/>
                </a:lnTo>
                <a:close/>
              </a:path>
            </a:pathLst>
          </a:custGeom>
          <a:blipFill>
            <a:blip r:embed="rId2"/>
            <a:stretch>
              <a:fillRect l="0" t="0" r="0" b="0"/>
            </a:stretch>
          </a:blipFill>
        </p:spPr>
      </p:sp>
      <p:sp>
        <p:nvSpPr>
          <p:cNvPr name="Freeform 3" id="3"/>
          <p:cNvSpPr/>
          <p:nvPr/>
        </p:nvSpPr>
        <p:spPr>
          <a:xfrm flipH="false" flipV="false" rot="0">
            <a:off x="304598" y="5959875"/>
            <a:ext cx="4400073" cy="4185569"/>
          </a:xfrm>
          <a:custGeom>
            <a:avLst/>
            <a:gdLst/>
            <a:ahLst/>
            <a:cxnLst/>
            <a:rect r="r" b="b" t="t" l="l"/>
            <a:pathLst>
              <a:path h="4185569" w="4400073">
                <a:moveTo>
                  <a:pt x="0" y="0"/>
                </a:moveTo>
                <a:lnTo>
                  <a:pt x="4400073" y="0"/>
                </a:lnTo>
                <a:lnTo>
                  <a:pt x="4400073" y="4185569"/>
                </a:lnTo>
                <a:lnTo>
                  <a:pt x="0" y="4185569"/>
                </a:lnTo>
                <a:lnTo>
                  <a:pt x="0" y="0"/>
                </a:lnTo>
                <a:close/>
              </a:path>
            </a:pathLst>
          </a:custGeom>
          <a:blipFill>
            <a:blip r:embed="rId3"/>
            <a:stretch>
              <a:fillRect l="0" t="0" r="0" b="0"/>
            </a:stretch>
          </a:blipFill>
        </p:spPr>
      </p:sp>
      <p:sp>
        <p:nvSpPr>
          <p:cNvPr name="Freeform 4" id="4"/>
          <p:cNvSpPr/>
          <p:nvPr/>
        </p:nvSpPr>
        <p:spPr>
          <a:xfrm flipH="false" flipV="false" rot="0">
            <a:off x="304598" y="2018532"/>
            <a:ext cx="6297912" cy="3774073"/>
          </a:xfrm>
          <a:custGeom>
            <a:avLst/>
            <a:gdLst/>
            <a:ahLst/>
            <a:cxnLst/>
            <a:rect r="r" b="b" t="t" l="l"/>
            <a:pathLst>
              <a:path h="3774073" w="6297912">
                <a:moveTo>
                  <a:pt x="0" y="0"/>
                </a:moveTo>
                <a:lnTo>
                  <a:pt x="6297912" y="0"/>
                </a:lnTo>
                <a:lnTo>
                  <a:pt x="6297912" y="3774074"/>
                </a:lnTo>
                <a:lnTo>
                  <a:pt x="0" y="3774074"/>
                </a:lnTo>
                <a:lnTo>
                  <a:pt x="0" y="0"/>
                </a:lnTo>
                <a:close/>
              </a:path>
            </a:pathLst>
          </a:custGeom>
          <a:blipFill>
            <a:blip r:embed="rId4"/>
            <a:stretch>
              <a:fillRect l="0" t="0" r="0" b="0"/>
            </a:stretch>
          </a:blipFill>
        </p:spPr>
      </p:sp>
      <p:sp>
        <p:nvSpPr>
          <p:cNvPr name="Freeform 5" id="5"/>
          <p:cNvSpPr/>
          <p:nvPr/>
        </p:nvSpPr>
        <p:spPr>
          <a:xfrm flipH="false" flipV="false" rot="0">
            <a:off x="8230539" y="1636712"/>
            <a:ext cx="8126912" cy="8126912"/>
          </a:xfrm>
          <a:custGeom>
            <a:avLst/>
            <a:gdLst/>
            <a:ahLst/>
            <a:cxnLst/>
            <a:rect r="r" b="b" t="t" l="l"/>
            <a:pathLst>
              <a:path h="8126912" w="8126912">
                <a:moveTo>
                  <a:pt x="0" y="0"/>
                </a:moveTo>
                <a:lnTo>
                  <a:pt x="8126912" y="0"/>
                </a:lnTo>
                <a:lnTo>
                  <a:pt x="8126912" y="8126912"/>
                </a:lnTo>
                <a:lnTo>
                  <a:pt x="0" y="8126912"/>
                </a:lnTo>
                <a:lnTo>
                  <a:pt x="0" y="0"/>
                </a:lnTo>
                <a:close/>
              </a:path>
            </a:pathLst>
          </a:custGeom>
          <a:blipFill>
            <a:blip r:embed="rId5"/>
            <a:stretch>
              <a:fillRect l="0" t="0" r="0" b="0"/>
            </a:stretch>
          </a:blipFill>
        </p:spPr>
      </p:sp>
      <p:sp>
        <p:nvSpPr>
          <p:cNvPr name="TextBox 6" id="6"/>
          <p:cNvSpPr txBox="true"/>
          <p:nvPr/>
        </p:nvSpPr>
        <p:spPr>
          <a:xfrm rot="0">
            <a:off x="304598" y="115888"/>
            <a:ext cx="6297912" cy="1520824"/>
          </a:xfrm>
          <a:prstGeom prst="rect">
            <a:avLst/>
          </a:prstGeom>
        </p:spPr>
        <p:txBody>
          <a:bodyPr anchor="t" rtlCol="false" tIns="0" lIns="0" bIns="0" rIns="0">
            <a:spAutoFit/>
          </a:bodyPr>
          <a:lstStyle/>
          <a:p>
            <a:pPr algn="ctr">
              <a:lnSpc>
                <a:spcPts val="11200"/>
              </a:lnSpc>
              <a:spcBef>
                <a:spcPct val="0"/>
              </a:spcBef>
            </a:pPr>
            <a:r>
              <a:rPr lang="en-US" sz="8000" u="sng">
                <a:solidFill>
                  <a:srgbClr val="000000"/>
                </a:solidFill>
                <a:latin typeface="Pixellet TH"/>
                <a:ea typeface="Pixellet TH"/>
                <a:cs typeface="Pixellet TH"/>
                <a:sym typeface="Pixellet TH"/>
              </a:rPr>
              <a:t>Inductors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285750"/>
            <a:ext cx="18288000" cy="9715500"/>
          </a:xfrm>
          <a:custGeom>
            <a:avLst/>
            <a:gdLst/>
            <a:ahLst/>
            <a:cxnLst/>
            <a:rect r="r" b="b" t="t" l="l"/>
            <a:pathLst>
              <a:path h="9715500" w="18288000">
                <a:moveTo>
                  <a:pt x="0" y="0"/>
                </a:moveTo>
                <a:lnTo>
                  <a:pt x="18288000" y="0"/>
                </a:lnTo>
                <a:lnTo>
                  <a:pt x="18288000" y="9715500"/>
                </a:lnTo>
                <a:lnTo>
                  <a:pt x="0" y="971550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559861" y="464846"/>
            <a:ext cx="6002251" cy="4210150"/>
          </a:xfrm>
          <a:custGeom>
            <a:avLst/>
            <a:gdLst/>
            <a:ahLst/>
            <a:cxnLst/>
            <a:rect r="r" b="b" t="t" l="l"/>
            <a:pathLst>
              <a:path h="4210150" w="6002251">
                <a:moveTo>
                  <a:pt x="0" y="0"/>
                </a:moveTo>
                <a:lnTo>
                  <a:pt x="6002251" y="0"/>
                </a:lnTo>
                <a:lnTo>
                  <a:pt x="6002251" y="4210150"/>
                </a:lnTo>
                <a:lnTo>
                  <a:pt x="0" y="4210150"/>
                </a:lnTo>
                <a:lnTo>
                  <a:pt x="0" y="0"/>
                </a:lnTo>
                <a:close/>
              </a:path>
            </a:pathLst>
          </a:custGeom>
          <a:blipFill>
            <a:blip r:embed="rId2"/>
            <a:stretch>
              <a:fillRect l="0" t="0" r="0" b="0"/>
            </a:stretch>
          </a:blipFill>
        </p:spPr>
      </p:sp>
      <p:sp>
        <p:nvSpPr>
          <p:cNvPr name="Freeform 3" id="3"/>
          <p:cNvSpPr/>
          <p:nvPr/>
        </p:nvSpPr>
        <p:spPr>
          <a:xfrm flipH="false" flipV="false" rot="0">
            <a:off x="559861" y="6471711"/>
            <a:ext cx="7084418" cy="2205084"/>
          </a:xfrm>
          <a:custGeom>
            <a:avLst/>
            <a:gdLst/>
            <a:ahLst/>
            <a:cxnLst/>
            <a:rect r="r" b="b" t="t" l="l"/>
            <a:pathLst>
              <a:path h="2205084" w="7084418">
                <a:moveTo>
                  <a:pt x="0" y="0"/>
                </a:moveTo>
                <a:lnTo>
                  <a:pt x="7084419" y="0"/>
                </a:lnTo>
                <a:lnTo>
                  <a:pt x="7084419" y="2205084"/>
                </a:lnTo>
                <a:lnTo>
                  <a:pt x="0" y="2205084"/>
                </a:lnTo>
                <a:lnTo>
                  <a:pt x="0" y="0"/>
                </a:lnTo>
                <a:close/>
              </a:path>
            </a:pathLst>
          </a:custGeom>
          <a:blipFill>
            <a:blip r:embed="rId3"/>
            <a:stretch>
              <a:fillRect l="0" t="0" r="0" b="0"/>
            </a:stretch>
          </a:blipFill>
        </p:spPr>
      </p:sp>
      <p:sp>
        <p:nvSpPr>
          <p:cNvPr name="Freeform 4" id="4"/>
          <p:cNvSpPr/>
          <p:nvPr/>
        </p:nvSpPr>
        <p:spPr>
          <a:xfrm flipH="false" flipV="false" rot="0">
            <a:off x="15415327" y="9338262"/>
            <a:ext cx="2872673" cy="948738"/>
          </a:xfrm>
          <a:custGeom>
            <a:avLst/>
            <a:gdLst/>
            <a:ahLst/>
            <a:cxnLst/>
            <a:rect r="r" b="b" t="t" l="l"/>
            <a:pathLst>
              <a:path h="948738" w="2872673">
                <a:moveTo>
                  <a:pt x="0" y="0"/>
                </a:moveTo>
                <a:lnTo>
                  <a:pt x="2872673" y="0"/>
                </a:lnTo>
                <a:lnTo>
                  <a:pt x="2872673" y="948738"/>
                </a:lnTo>
                <a:lnTo>
                  <a:pt x="0" y="948738"/>
                </a:lnTo>
                <a:lnTo>
                  <a:pt x="0" y="0"/>
                </a:lnTo>
                <a:close/>
              </a:path>
            </a:pathLst>
          </a:custGeom>
          <a:blipFill>
            <a:blip r:embed="rId4"/>
            <a:stretch>
              <a:fillRect l="0" t="0" r="0" b="0"/>
            </a:stretch>
          </a:blipFill>
        </p:spPr>
      </p:sp>
      <p:sp>
        <p:nvSpPr>
          <p:cNvPr name="TextBox 5" id="5"/>
          <p:cNvSpPr txBox="true"/>
          <p:nvPr/>
        </p:nvSpPr>
        <p:spPr>
          <a:xfrm rot="0">
            <a:off x="6950375" y="1346276"/>
            <a:ext cx="10409986" cy="238061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Anantason"/>
                <a:ea typeface="Anantason"/>
                <a:cs typeface="Anantason"/>
                <a:sym typeface="Anantason"/>
              </a:rPr>
              <a:t>In a DC circuit, a coil prevents an instant change in current, so when the circuit is closed, the coil causes the current change slowly. When the current reaches its max, the coil acts as close circuit</a:t>
            </a:r>
          </a:p>
        </p:txBody>
      </p:sp>
      <p:sp>
        <p:nvSpPr>
          <p:cNvPr name="TextBox 6" id="6"/>
          <p:cNvSpPr txBox="true"/>
          <p:nvPr/>
        </p:nvSpPr>
        <p:spPr>
          <a:xfrm rot="0">
            <a:off x="6950375" y="6950683"/>
            <a:ext cx="10409986"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Anantason"/>
                <a:ea typeface="Anantason"/>
                <a:cs typeface="Anantason"/>
                <a:sym typeface="Anantason"/>
              </a:rPr>
              <a:t>In AC circuits, a coil resists changes in current, causing current to lag behind voltage by 90°.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15475626" y="420688"/>
            <a:ext cx="1783674" cy="1783674"/>
          </a:xfrm>
          <a:custGeom>
            <a:avLst/>
            <a:gdLst/>
            <a:ahLst/>
            <a:cxnLst/>
            <a:rect r="r" b="b" t="t" l="l"/>
            <a:pathLst>
              <a:path h="1783674" w="1783674">
                <a:moveTo>
                  <a:pt x="0" y="0"/>
                </a:moveTo>
                <a:lnTo>
                  <a:pt x="1783674" y="0"/>
                </a:lnTo>
                <a:lnTo>
                  <a:pt x="1783674" y="1783674"/>
                </a:lnTo>
                <a:lnTo>
                  <a:pt x="0" y="1783674"/>
                </a:lnTo>
                <a:lnTo>
                  <a:pt x="0" y="0"/>
                </a:lnTo>
                <a:close/>
              </a:path>
            </a:pathLst>
          </a:custGeom>
          <a:blipFill>
            <a:blip r:embed="rId2"/>
            <a:stretch>
              <a:fillRect l="0" t="0" r="0" b="0"/>
            </a:stretch>
          </a:blipFill>
        </p:spPr>
      </p:sp>
      <p:sp>
        <p:nvSpPr>
          <p:cNvPr name="Freeform 3" id="3"/>
          <p:cNvSpPr/>
          <p:nvPr/>
        </p:nvSpPr>
        <p:spPr>
          <a:xfrm flipH="false" flipV="false" rot="0">
            <a:off x="321644" y="2079764"/>
            <a:ext cx="7522632" cy="4163138"/>
          </a:xfrm>
          <a:custGeom>
            <a:avLst/>
            <a:gdLst/>
            <a:ahLst/>
            <a:cxnLst/>
            <a:rect r="r" b="b" t="t" l="l"/>
            <a:pathLst>
              <a:path h="4163138" w="7522632">
                <a:moveTo>
                  <a:pt x="0" y="0"/>
                </a:moveTo>
                <a:lnTo>
                  <a:pt x="7522632" y="0"/>
                </a:lnTo>
                <a:lnTo>
                  <a:pt x="7522632" y="4163138"/>
                </a:lnTo>
                <a:lnTo>
                  <a:pt x="0" y="4163138"/>
                </a:lnTo>
                <a:lnTo>
                  <a:pt x="0" y="0"/>
                </a:lnTo>
                <a:close/>
              </a:path>
            </a:pathLst>
          </a:custGeom>
          <a:blipFill>
            <a:blip r:embed="rId3"/>
            <a:stretch>
              <a:fillRect l="0" t="0" r="0" b="0"/>
            </a:stretch>
          </a:blipFill>
        </p:spPr>
      </p:sp>
      <p:sp>
        <p:nvSpPr>
          <p:cNvPr name="Freeform 4" id="4"/>
          <p:cNvSpPr/>
          <p:nvPr/>
        </p:nvSpPr>
        <p:spPr>
          <a:xfrm flipH="false" flipV="false" rot="0">
            <a:off x="8558874" y="2079764"/>
            <a:ext cx="5671760" cy="4163138"/>
          </a:xfrm>
          <a:custGeom>
            <a:avLst/>
            <a:gdLst/>
            <a:ahLst/>
            <a:cxnLst/>
            <a:rect r="r" b="b" t="t" l="l"/>
            <a:pathLst>
              <a:path h="4163138" w="5671760">
                <a:moveTo>
                  <a:pt x="0" y="0"/>
                </a:moveTo>
                <a:lnTo>
                  <a:pt x="5671760" y="0"/>
                </a:lnTo>
                <a:lnTo>
                  <a:pt x="5671760" y="4163138"/>
                </a:lnTo>
                <a:lnTo>
                  <a:pt x="0" y="4163138"/>
                </a:lnTo>
                <a:lnTo>
                  <a:pt x="0" y="0"/>
                </a:lnTo>
                <a:close/>
              </a:path>
            </a:pathLst>
          </a:custGeom>
          <a:blipFill>
            <a:blip r:embed="rId4"/>
            <a:stretch>
              <a:fillRect l="0" t="0" r="0" b="0"/>
            </a:stretch>
          </a:blipFill>
        </p:spPr>
      </p:sp>
      <p:sp>
        <p:nvSpPr>
          <p:cNvPr name="TextBox 5" id="5"/>
          <p:cNvSpPr txBox="true"/>
          <p:nvPr/>
        </p:nvSpPr>
        <p:spPr>
          <a:xfrm rot="0">
            <a:off x="321644" y="115888"/>
            <a:ext cx="3605510" cy="1520824"/>
          </a:xfrm>
          <a:prstGeom prst="rect">
            <a:avLst/>
          </a:prstGeom>
        </p:spPr>
        <p:txBody>
          <a:bodyPr anchor="t" rtlCol="false" tIns="0" lIns="0" bIns="0" rIns="0">
            <a:spAutoFit/>
          </a:bodyPr>
          <a:lstStyle/>
          <a:p>
            <a:pPr algn="ctr">
              <a:lnSpc>
                <a:spcPts val="11200"/>
              </a:lnSpc>
              <a:spcBef>
                <a:spcPct val="0"/>
              </a:spcBef>
            </a:pPr>
            <a:r>
              <a:rPr lang="en-US" sz="8000" u="sng">
                <a:solidFill>
                  <a:srgbClr val="000000"/>
                </a:solidFill>
                <a:latin typeface="Pixellet TH"/>
                <a:ea typeface="Pixellet TH"/>
                <a:cs typeface="Pixellet TH"/>
                <a:sym typeface="Pixellet TH"/>
              </a:rPr>
              <a:t>Relay</a:t>
            </a:r>
          </a:p>
        </p:txBody>
      </p:sp>
      <p:sp>
        <p:nvSpPr>
          <p:cNvPr name="TextBox 6" id="6"/>
          <p:cNvSpPr txBox="true"/>
          <p:nvPr/>
        </p:nvSpPr>
        <p:spPr>
          <a:xfrm rot="0">
            <a:off x="321644" y="6822525"/>
            <a:ext cx="17966356" cy="238061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Anantason"/>
                <a:ea typeface="Anantason"/>
                <a:cs typeface="Anantason"/>
                <a:sym typeface="Anantason"/>
              </a:rPr>
              <a:t>A relay is an electrically operated switch contr</a:t>
            </a:r>
            <a:r>
              <a:rPr lang="en-US" sz="3399">
                <a:solidFill>
                  <a:srgbClr val="000000"/>
                </a:solidFill>
                <a:latin typeface="Anantason"/>
                <a:ea typeface="Anantason"/>
                <a:cs typeface="Anantason"/>
                <a:sym typeface="Anantason"/>
              </a:rPr>
              <a:t>olled by a small current. When the relay coil is energized, it produces a magnetic field that pulls the armature. This movement changes the contact position, closing the normally open (NO) contact and opening the normally closed (NC) contact. In this way, a low-power control circuit can safely switch a high-power load.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40005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D9D9D9"/>
        </a:solidFill>
      </p:bgPr>
    </p:bg>
    <p:spTree>
      <p:nvGrpSpPr>
        <p:cNvPr id="1" name=""/>
        <p:cNvGrpSpPr/>
        <p:nvPr/>
      </p:nvGrpSpPr>
      <p:grpSpPr>
        <a:xfrm>
          <a:off x="0" y="0"/>
          <a:ext cx="0" cy="0"/>
          <a:chOff x="0" y="0"/>
          <a:chExt cx="0" cy="0"/>
        </a:xfrm>
      </p:grpSpPr>
      <p:sp>
        <p:nvSpPr>
          <p:cNvPr name="TextBox 2" id="2"/>
          <p:cNvSpPr txBox="true"/>
          <p:nvPr/>
        </p:nvSpPr>
        <p:spPr>
          <a:xfrm rot="0">
            <a:off x="4331940" y="3771900"/>
            <a:ext cx="9624120" cy="2286000"/>
          </a:xfrm>
          <a:prstGeom prst="rect">
            <a:avLst/>
          </a:prstGeom>
        </p:spPr>
        <p:txBody>
          <a:bodyPr anchor="t" rtlCol="false" tIns="0" lIns="0" bIns="0" rIns="0">
            <a:spAutoFit/>
          </a:bodyPr>
          <a:lstStyle/>
          <a:p>
            <a:pPr algn="ctr">
              <a:lnSpc>
                <a:spcPts val="16800"/>
              </a:lnSpc>
              <a:spcBef>
                <a:spcPct val="0"/>
              </a:spcBef>
            </a:pPr>
            <a:r>
              <a:rPr lang="en-US" sz="12000">
                <a:solidFill>
                  <a:srgbClr val="000000"/>
                </a:solidFill>
                <a:latin typeface="Pixellet TH"/>
                <a:ea typeface="Pixellet TH"/>
                <a:cs typeface="Pixellet TH"/>
                <a:sym typeface="Pixellet TH"/>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DAHAiGnEsbw</dc:identifier>
  <dcterms:modified xsi:type="dcterms:W3CDTF">2011-08-01T06:04:30Z</dcterms:modified>
  <cp:revision>1</cp:revision>
  <dc:title>RLC Circuits</dc:title>
</cp:coreProperties>
</file>